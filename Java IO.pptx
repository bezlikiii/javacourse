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74" r:id="rId4"/>
    <p:sldId id="257" r:id="rId5"/>
    <p:sldId id="261" r:id="rId6"/>
    <p:sldId id="259" r:id="rId7"/>
    <p:sldId id="262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2" r:id="rId17"/>
    <p:sldId id="273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652B2-8C6E-419B-8E93-813F678ADC08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6DC3D-C717-495C-B489-C044A339A551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/>
          <p:nvPr>
            <p:ph type="sldImg" idx="2"/>
          </p:nvPr>
        </p:nvSpPr>
        <p:spPr/>
      </p:sp>
      <p:sp>
        <p:nvSpPr>
          <p:cNvPr id="3" name="Замещающий текст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/>
          <p:nvPr>
            <p:ph type="sldImg" idx="2"/>
          </p:nvPr>
        </p:nvSpPr>
        <p:spPr/>
      </p:sp>
      <p:sp>
        <p:nvSpPr>
          <p:cNvPr id="3" name="Замещающий текст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/>
          <p:nvPr>
            <p:ph type="sldImg" idx="2"/>
          </p:nvPr>
        </p:nvSpPr>
        <p:spPr/>
      </p:sp>
      <p:sp>
        <p:nvSpPr>
          <p:cNvPr id="3" name="Замещающий текст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/>
          <p:nvPr>
            <p:ph type="sldImg" idx="2"/>
          </p:nvPr>
        </p:nvSpPr>
        <p:spPr/>
      </p:sp>
      <p:sp>
        <p:nvSpPr>
          <p:cNvPr id="3" name="Замещающий текст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/>
          <p:nvPr>
            <p:ph type="sldImg" idx="2"/>
          </p:nvPr>
        </p:nvSpPr>
        <p:spPr/>
      </p:sp>
      <p:sp>
        <p:nvSpPr>
          <p:cNvPr id="3" name="Замещающий текст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/>
          <p:nvPr>
            <p:ph type="sldImg" idx="2"/>
          </p:nvPr>
        </p:nvSpPr>
        <p:spPr/>
      </p:sp>
      <p:sp>
        <p:nvSpPr>
          <p:cNvPr id="3" name="Замещающий текст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/>
          <p:nvPr>
            <p:ph type="sldImg" idx="2"/>
          </p:nvPr>
        </p:nvSpPr>
        <p:spPr/>
      </p:sp>
      <p:sp>
        <p:nvSpPr>
          <p:cNvPr id="3" name="Замещающий текст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/>
          <p:nvPr>
            <p:ph type="sldImg" idx="2"/>
          </p:nvPr>
        </p:nvSpPr>
        <p:spPr/>
      </p:sp>
      <p:sp>
        <p:nvSpPr>
          <p:cNvPr id="3" name="Замещающий текст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/>
          <p:nvPr>
            <p:ph type="sldImg" idx="2"/>
          </p:nvPr>
        </p:nvSpPr>
        <p:spPr/>
      </p:sp>
      <p:sp>
        <p:nvSpPr>
          <p:cNvPr id="3" name="Замещающий текст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/>
          <p:nvPr>
            <p:ph type="sldImg" idx="2"/>
          </p:nvPr>
        </p:nvSpPr>
        <p:spPr/>
      </p:sp>
      <p:sp>
        <p:nvSpPr>
          <p:cNvPr id="3" name="Замещающий текст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/>
          <p:nvPr>
            <p:ph type="sldImg" idx="2"/>
          </p:nvPr>
        </p:nvSpPr>
        <p:spPr/>
      </p:sp>
      <p:sp>
        <p:nvSpPr>
          <p:cNvPr id="3" name="Замещающий текст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Заголовок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Замещающий текст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Замещающая дата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C2673DCD-2704-49D8-8FC1-3810D347C3F5}" type="datetimeFigureOut">
              <a:rPr lang="ru-RU" smtClean="0"/>
            </a:fld>
            <a:endParaRPr lang="ru-RU"/>
          </a:p>
        </p:txBody>
      </p:sp>
      <p:sp>
        <p:nvSpPr>
          <p:cNvPr id="1029" name="Замещающий нижний колонтитул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ru-RU"/>
          </a:p>
        </p:txBody>
      </p:sp>
      <p:sp>
        <p:nvSpPr>
          <p:cNvPr id="1030" name="Замещающий номер слайда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5CA4F013-E0A2-4A1A-883F-2A77275DA5F8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08080"/>
            </a:gs>
            <a:gs pos="100000">
              <a:srgbClr val="0000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1990" y="818515"/>
            <a:ext cx="4449445" cy="1182370"/>
          </a:xfrm>
        </p:spPr>
        <p:txBody>
          <a:bodyPr/>
          <a:p>
            <a:pPr algn="l"/>
            <a:r>
              <a:rPr lang="ru-RU" altLang="en-US">
                <a:ln>
                  <a:solidFill>
                    <a:sysClr val="windowText" lastClr="000000"/>
                  </a:solidFill>
                </a:ln>
              </a:rPr>
              <a:t>Java IO</a:t>
            </a:r>
            <a:br>
              <a:rPr lang="ru-RU" altLang="en-US">
                <a:ln>
                  <a:solidFill>
                    <a:sysClr val="windowText" lastClr="000000"/>
                  </a:solidFill>
                </a:ln>
              </a:rPr>
            </a:br>
            <a:r>
              <a:rPr lang="ru-RU" altLang="en-US">
                <a:ln>
                  <a:solidFill>
                    <a:sysClr val="windowText" lastClr="000000"/>
                  </a:solidFill>
                </a:ln>
              </a:rPr>
              <a:t>Разбор класса</a:t>
            </a:r>
            <a:endParaRPr lang="ru-RU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35" y="6333490"/>
            <a:ext cx="1523365" cy="524510"/>
          </a:xfrm>
        </p:spPr>
        <p:txBody>
          <a:bodyPr/>
          <a:p>
            <a:pPr algn="r"/>
            <a:r>
              <a:rPr lang="ru-RU" altLang="en-US"/>
              <a:t>Автор: Stella</a:t>
            </a:r>
            <a:endParaRPr lang="ru-RU" altLang="en-US"/>
          </a:p>
        </p:txBody>
      </p:sp>
      <p:cxnSp>
        <p:nvCxnSpPr>
          <p:cNvPr id="4" name="Прямое соединение 3"/>
          <p:cNvCxnSpPr/>
          <p:nvPr/>
        </p:nvCxnSpPr>
        <p:spPr>
          <a:xfrm>
            <a:off x="746760" y="2070735"/>
            <a:ext cx="407797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08080"/>
            </a:gs>
            <a:gs pos="100000">
              <a:srgbClr val="0000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72465" y="276860"/>
            <a:ext cx="4449445" cy="2066925"/>
          </a:xfrm>
        </p:spPr>
        <p:txBody>
          <a:bodyPr/>
          <a:p>
            <a:pPr algn="ctr"/>
            <a:r>
              <a:rPr lang="ru-RU" altLang="en-US">
                <a:ln>
                  <a:solidFill>
                    <a:sysClr val="windowText" lastClr="000000"/>
                  </a:solidFill>
                </a:ln>
              </a:rPr>
              <a:t>InputStream</a:t>
            </a:r>
            <a:br>
              <a:rPr lang="ru-RU" altLang="en-US">
                <a:ln>
                  <a:solidFill>
                    <a:sysClr val="windowText" lastClr="000000"/>
                  </a:solidFill>
                </a:ln>
              </a:rPr>
            </a:br>
            <a:r>
              <a:rPr lang="ru-RU" altLang="en-US">
                <a:ln>
                  <a:solidFill>
                    <a:sysClr val="windowText" lastClr="000000"/>
                  </a:solidFill>
                </a:ln>
              </a:rPr>
              <a:t>Входящий    поток</a:t>
            </a:r>
            <a:endParaRPr lang="ru-RU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35" y="6333490"/>
            <a:ext cx="1523365" cy="524510"/>
          </a:xfrm>
        </p:spPr>
        <p:txBody>
          <a:bodyPr/>
          <a:p>
            <a:pPr algn="r"/>
            <a:r>
              <a:rPr lang="ru-RU" altLang="en-US"/>
              <a:t>Автор: Stella</a:t>
            </a:r>
            <a:endParaRPr lang="ru-RU" altLang="en-US"/>
          </a:p>
        </p:txBody>
      </p:sp>
      <p:cxnSp>
        <p:nvCxnSpPr>
          <p:cNvPr id="4" name="Прямое соединение 3"/>
          <p:cNvCxnSpPr/>
          <p:nvPr/>
        </p:nvCxnSpPr>
        <p:spPr>
          <a:xfrm>
            <a:off x="746760" y="2413635"/>
            <a:ext cx="407797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808080"/>
            </a:gs>
            <a:gs pos="100000">
              <a:srgbClr val="000000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ru-RU" altLang="en-US"/>
              <a:t>Разделение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915795"/>
            <a:ext cx="10972800" cy="3135630"/>
          </a:xfrm>
        </p:spPr>
        <p:txBody>
          <a:bodyPr/>
          <a:p>
            <a:r>
              <a:rPr lang="ru-RU" altLang="en-US">
                <a:solidFill>
                  <a:schemeClr val="tx1"/>
                </a:solidFill>
              </a:rPr>
              <a:t>Класс java.io делиться на InputStream(входящий поток) и OutputStream(выходящий поток). Потоки можно сравнить с трубами, которые после нужно закрывать.</a:t>
            </a:r>
            <a:endParaRPr lang="ru-RU" altLang="en-US">
              <a:solidFill>
                <a:schemeClr val="tx1"/>
              </a:solidFill>
            </a:endParaRPr>
          </a:p>
          <a:p>
            <a:r>
              <a:rPr lang="ru-RU" altLang="en-US">
                <a:solidFill>
                  <a:schemeClr val="tx1"/>
                </a:solidFill>
              </a:rPr>
              <a:t>А также этот класс делиться на Writer и Reader - для работы не с байтами, а с символами.</a:t>
            </a:r>
            <a:endParaRPr lang="ru-RU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808080"/>
            </a:gs>
            <a:gs pos="100000">
              <a:srgbClr val="000000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ru-RU" altLang="en-US"/>
              <a:t>Импорт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915795"/>
            <a:ext cx="10972800" cy="4177030"/>
          </a:xfrm>
        </p:spPr>
        <p:txBody>
          <a:bodyPr/>
          <a:p>
            <a:r>
              <a:rPr lang="ru-RU" altLang="en-US">
                <a:solidFill>
                  <a:schemeClr val="tx1"/>
                </a:solidFill>
              </a:rPr>
              <a:t>Импорт класса производиться так:</a:t>
            </a:r>
            <a:endParaRPr lang="ru-RU" altLang="en-US">
              <a:solidFill>
                <a:schemeClr val="tx1"/>
              </a:solidFill>
            </a:endParaRPr>
          </a:p>
          <a:p>
            <a:r>
              <a:rPr lang="ru-RU" altLang="en-US">
                <a:solidFill>
                  <a:schemeClr val="tx1"/>
                </a:solidFill>
              </a:rPr>
              <a:t>import java.io.*;</a:t>
            </a:r>
            <a:endParaRPr lang="ru-RU" altLang="en-US">
              <a:solidFill>
                <a:schemeClr val="tx1"/>
              </a:solidFill>
            </a:endParaRPr>
          </a:p>
          <a:p>
            <a:r>
              <a:rPr lang="ru-RU" altLang="en-US">
                <a:solidFill>
                  <a:schemeClr val="tx1"/>
                </a:solidFill>
              </a:rPr>
              <a:t>Вместо «*» можно поставить любой класс который	вам нужен.</a:t>
            </a:r>
            <a:endParaRPr lang="ru-RU" altLang="en-US">
              <a:solidFill>
                <a:schemeClr val="tx1"/>
              </a:solidFill>
            </a:endParaRPr>
          </a:p>
          <a:p>
            <a:r>
              <a:rPr lang="ru-RU" altLang="en-US">
                <a:solidFill>
                  <a:schemeClr val="tx1"/>
                </a:solidFill>
              </a:rPr>
              <a:t>Каждый такой класс нужно обрабатывать try catch для оформления исключений. </a:t>
            </a:r>
            <a:endParaRPr lang="ru-RU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808080"/>
            </a:gs>
            <a:gs pos="100000">
              <a:srgbClr val="0000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ru-RU" altLang="en-US"/>
              <a:t>InputStream(входящий поток)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InputStream - используется для чтения данных из указанного для него источника.</a:t>
            </a:r>
            <a:endParaRPr lang="ru-RU" altLang="en-US"/>
          </a:p>
          <a:p>
            <a:r>
              <a:rPr lang="ru-RU" altLang="en-US"/>
              <a:t>К InputStream относятся:</a:t>
            </a:r>
            <a:endParaRPr lang="ru-RU" altLang="en-US"/>
          </a:p>
          <a:p>
            <a:pPr marL="0" indent="0">
              <a:buNone/>
            </a:pPr>
            <a:r>
              <a:rPr lang="ru-RU" altLang="en-US"/>
              <a:t>	FileInputStream</a:t>
            </a:r>
            <a:endParaRPr lang="ru-RU" altLang="en-US"/>
          </a:p>
          <a:p>
            <a:pPr marL="0" indent="0">
              <a:buNone/>
            </a:pPr>
            <a:r>
              <a:rPr lang="ru-RU" altLang="en-US"/>
              <a:t>	ByteArrayInputStream </a:t>
            </a:r>
            <a:endParaRPr lang="ru-RU" altLang="en-US"/>
          </a:p>
          <a:p>
            <a:pPr marL="0" indent="0">
              <a:buNone/>
            </a:pPr>
            <a:r>
              <a:rPr lang="ru-RU" altLang="en-US"/>
              <a:t>	FilterInputStream</a:t>
            </a:r>
            <a:endParaRPr lang="ru-RU" altLang="en-US"/>
          </a:p>
          <a:p>
            <a:pPr marL="0" indent="0">
              <a:buNone/>
            </a:pPr>
            <a:r>
              <a:rPr lang="ru-RU" altLang="en-US"/>
              <a:t>	ObjectInputStream</a:t>
            </a:r>
            <a:endParaRPr lang="ru-RU" altLang="en-US"/>
          </a:p>
        </p:txBody>
      </p:sp>
      <p:cxnSp>
        <p:nvCxnSpPr>
          <p:cNvPr id="4" name="Прямая со стрелкой 3"/>
          <p:cNvCxnSpPr/>
          <p:nvPr/>
        </p:nvCxnSpPr>
        <p:spPr>
          <a:xfrm flipV="1">
            <a:off x="5715000" y="3854450"/>
            <a:ext cx="762000" cy="27940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Прямая со стрелкой 4"/>
          <p:cNvCxnSpPr>
            <a:endCxn id="7" idx="1"/>
          </p:cNvCxnSpPr>
          <p:nvPr/>
        </p:nvCxnSpPr>
        <p:spPr>
          <a:xfrm>
            <a:off x="5715000" y="4138930"/>
            <a:ext cx="762000" cy="35496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Текстовое поле 5"/>
          <p:cNvSpPr txBox="1"/>
          <p:nvPr/>
        </p:nvSpPr>
        <p:spPr>
          <a:xfrm>
            <a:off x="6477000" y="3622040"/>
            <a:ext cx="22866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ru-RU" altLang="en-US"/>
              <a:t>BufferedInputStream</a:t>
            </a:r>
            <a:endParaRPr lang="ru-RU" altLang="en-US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477000" y="4309745"/>
            <a:ext cx="191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ru-RU" altLang="en-US"/>
              <a:t>DataInputStream</a:t>
            </a:r>
            <a:endParaRPr lang="ru-RU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808080"/>
            </a:gs>
            <a:gs pos="100000">
              <a:srgbClr val="0000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ru-RU" altLang="en-US"/>
              <a:t>FileInputStream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Один из базовых классов для чтения байтов из файлов. Относится к потокам ввода байтов.</a:t>
            </a:r>
            <a:endParaRPr lang="ru-RU" altLang="en-US"/>
          </a:p>
          <a:p>
            <a:r>
              <a:rPr lang="ru-RU" altLang="en-US"/>
              <a:t>FileInputStream используется для побайтового чтения данных из файла, то есть он работает с двоичными файлами — изображениями, аудио, видео, программами, а также с любыми файлами, где не нужно преобразование байтов в символы (в отличие от FileReader).</a:t>
            </a:r>
            <a:endParaRPr lang="ru-RU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808080"/>
            </a:gs>
            <a:gs pos="100000">
              <a:srgbClr val="0000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ru-RU" altLang="en-US"/>
              <a:t>FileInputStream - конструкторы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 sz="2800"/>
              <a:t>FileInputStream(String name) - Открывает поток для чтения файла по имени (пути).</a:t>
            </a:r>
            <a:endParaRPr lang="ru-RU" altLang="en-US" sz="2800"/>
          </a:p>
          <a:p>
            <a:endParaRPr lang="ru-RU" altLang="en-US" sz="2800"/>
          </a:p>
          <a:p>
            <a:r>
              <a:rPr lang="ru-RU" altLang="en-US" sz="2800"/>
              <a:t>FileInputStream(File file) - Открывает поток для чтения из объекта File.</a:t>
            </a:r>
            <a:endParaRPr lang="ru-RU" altLang="en-US" sz="2800"/>
          </a:p>
          <a:p>
            <a:endParaRPr lang="ru-RU" altLang="en-US" sz="2800"/>
          </a:p>
          <a:p>
            <a:r>
              <a:rPr lang="ru-RU" altLang="en-US" sz="2800"/>
              <a:t>FileInputStream(FileDescriptor fd) - Открывает поток, используя файловый дескриптор (редко используется).</a:t>
            </a:r>
            <a:endParaRPr lang="ru-RU" altLang="en-US" sz="2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808080"/>
            </a:gs>
            <a:gs pos="100000">
              <a:srgbClr val="0000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ru-RU" altLang="en-US"/>
              <a:t>FileInputStream - основные методы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 sz="2400"/>
              <a:t>int read() - Читает один байт из файла. Возвращает -1, если достигнут конец файла.</a:t>
            </a:r>
            <a:endParaRPr lang="ru-RU" altLang="en-US" sz="2400"/>
          </a:p>
          <a:p>
            <a:r>
              <a:rPr lang="ru-RU" altLang="en-US" sz="2400"/>
              <a:t>int read(byte[] b) - Читает данные в массив b и возвращает количество реально прочитанных байтов.</a:t>
            </a:r>
            <a:endParaRPr lang="ru-RU" altLang="en-US" sz="2400"/>
          </a:p>
          <a:p>
            <a:r>
              <a:rPr lang="ru-RU" altLang="en-US" sz="2400"/>
              <a:t>int read(byte[] b, int off, int len) - Читает до len байтов в массив b, начиная с позиции off.</a:t>
            </a:r>
            <a:endParaRPr lang="ru-RU" altLang="en-US" sz="2400"/>
          </a:p>
          <a:p>
            <a:r>
              <a:rPr lang="ru-RU" altLang="en-US" sz="2400"/>
              <a:t>long skip(long n) - Пропускает n байтов во входном потоке.</a:t>
            </a:r>
            <a:endParaRPr lang="ru-RU" altLang="en-US" sz="2400"/>
          </a:p>
          <a:p>
            <a:r>
              <a:rPr lang="ru-RU" altLang="en-US" sz="2400"/>
              <a:t>int available() - Возвращает количество байтов, доступных для чтения без блокировки.</a:t>
            </a:r>
            <a:endParaRPr lang="ru-RU" altLang="en-US" sz="2400"/>
          </a:p>
          <a:p>
            <a:r>
              <a:rPr lang="ru-RU" altLang="en-US" sz="2400"/>
              <a:t>void close() - Закрывает поток и освобождает ресурсы. Обязательно вызывать после использования!</a:t>
            </a:r>
            <a:endParaRPr lang="ru-RU" altLang="en-US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808080"/>
            </a:gs>
            <a:gs pos="100000">
              <a:srgbClr val="0000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ru-RU" altLang="en-US">
                <a:sym typeface="+mn-ea"/>
              </a:rPr>
              <a:t>ByteArrayInputStream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 sz="2400"/>
              <a:t>Класс ByteArrayInputStream и его «пара» ByteArrayOutputStream — это два чрезвычайно полезных инструмента в пакете java.io, предназначенные не для работы с файлами, а для работы с массивами байтов как с потоками.</a:t>
            </a:r>
            <a:endParaRPr lang="ru-RU" altLang="en-US" sz="2400"/>
          </a:p>
          <a:p>
            <a:r>
              <a:rPr lang="ru-RU" altLang="en-US" sz="2400"/>
              <a:t>Если FileInputStream читает байты из файла, то ByteArrayInputStream читает их из памяти, из уже существующего массива byte[ ].</a:t>
            </a:r>
            <a:endParaRPr lang="ru-RU" altLang="en-US" sz="2400"/>
          </a:p>
          <a:p>
            <a:r>
              <a:rPr lang="ru-RU" altLang="en-US" sz="2400"/>
              <a:t>ByteArrayInputStream позволяет читать байты из массива, будто это обычный поток данных.</a:t>
            </a:r>
            <a:endParaRPr lang="ru-RU" altLang="en-US" sz="2400"/>
          </a:p>
          <a:p>
            <a:r>
              <a:rPr lang="ru-RU" altLang="en-US" sz="2400"/>
              <a:t>Это особенно удобно, когда нужно обработать данные, уже находящиеся в оперативной памяти — например, когда вы получаете файл из сети, а затем хотите прочитать его как поток, без записи на диск.</a:t>
            </a:r>
            <a:endParaRPr lang="ru-RU" altLang="en-US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808080"/>
            </a:gs>
            <a:gs pos="100000">
              <a:srgbClr val="0000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ru-RU" altLang="en-US">
                <a:sym typeface="+mn-ea"/>
              </a:rPr>
              <a:t>ByteArrayInputStream - конструкторы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2114550"/>
            <a:ext cx="10972800" cy="4525963"/>
          </a:xfrm>
        </p:spPr>
        <p:txBody>
          <a:bodyPr/>
          <a:p>
            <a:r>
              <a:rPr lang="ru-RU" altLang="en-US" sz="2400"/>
              <a:t>ByteArrayInputStream(byte[ ] buf) - Создаёт поток, который читает байты из массива buf.</a:t>
            </a:r>
            <a:endParaRPr lang="ru-RU" altLang="en-US" sz="2400"/>
          </a:p>
          <a:p>
            <a:r>
              <a:rPr lang="ru-RU" altLang="en-US" sz="2400"/>
              <a:t>ByteArrayInputStream(byte[ ] buf, int offset, int length) - Читает только часть массива: начиная с offset и длиной length байт.</a:t>
            </a:r>
            <a:endParaRPr lang="ru-RU" altLang="en-US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808080"/>
            </a:gs>
            <a:gs pos="100000">
              <a:srgbClr val="0000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456883"/>
            <a:ext cx="10972800" cy="1143000"/>
          </a:xfrm>
        </p:spPr>
        <p:txBody>
          <a:bodyPr/>
          <a:p>
            <a:pPr algn="l"/>
            <a:r>
              <a:rPr lang="ru-RU" altLang="en-US">
                <a:sym typeface="+mn-ea"/>
              </a:rPr>
              <a:t>ByteArrayInputStream - методы</a:t>
            </a:r>
            <a:br>
              <a:rPr lang="ru-RU" altLang="en-US"/>
            </a:b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 sz="2400"/>
              <a:t>int read() - Читает один байт; возвращает -1, если конец массива.</a:t>
            </a:r>
            <a:endParaRPr lang="ru-RU" altLang="en-US" sz="2400"/>
          </a:p>
          <a:p>
            <a:r>
              <a:rPr lang="ru-RU" altLang="en-US" sz="2400"/>
              <a:t>int read(byte[] b, int off, int len)	- Читает несколько байтов в массив b, начиная с позиции off.</a:t>
            </a:r>
            <a:endParaRPr lang="ru-RU" altLang="en-US" sz="2400"/>
          </a:p>
          <a:p>
            <a:r>
              <a:rPr lang="ru-RU" altLang="en-US" sz="2400"/>
              <a:t>int available() - Возвращает количество байтов, которые можно ещё прочитать.</a:t>
            </a:r>
            <a:endParaRPr lang="ru-RU" altLang="en-US" sz="2400"/>
          </a:p>
          <a:p>
            <a:r>
              <a:rPr lang="ru-RU" altLang="en-US" sz="2400"/>
              <a:t>void reset() - Возвращает поток в начало (в отличие от файловых потоков).</a:t>
            </a:r>
            <a:endParaRPr lang="ru-RU" altLang="en-US" sz="2400"/>
          </a:p>
          <a:p>
            <a:r>
              <a:rPr lang="ru-RU" altLang="en-US" sz="2400"/>
              <a:t>void close() - Закрывает поток (но фактически ничего не делает, потому что данные в памяти).</a:t>
            </a:r>
            <a:endParaRPr lang="ru-RU" altLang="en-US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808080"/>
            </a:gs>
            <a:gs pos="100000">
              <a:srgbClr val="0000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456883"/>
            <a:ext cx="10972800" cy="1143000"/>
          </a:xfrm>
        </p:spPr>
        <p:txBody>
          <a:bodyPr/>
          <a:p>
            <a:pPr algn="l"/>
            <a:r>
              <a:rPr lang="ru-RU" altLang="en-US"/>
              <a:t>FilterInputStream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 sz="2400"/>
              <a:t>FilterInputStream — это базовый (родительский) класс для таких потоков, как</a:t>
            </a:r>
            <a:endParaRPr lang="ru-RU" altLang="en-US" sz="2400"/>
          </a:p>
          <a:p>
            <a:r>
              <a:rPr lang="ru-RU" altLang="en-US" sz="2400"/>
              <a:t>BufferedInputStream, DataInputStream, PushbackInputStream, CheckedInputStream и других.</a:t>
            </a:r>
            <a:endParaRPr lang="ru-RU" altLang="en-US" sz="2400"/>
          </a:p>
          <a:p>
            <a:endParaRPr lang="ru-RU" altLang="en-US" sz="2400"/>
          </a:p>
          <a:p>
            <a:r>
              <a:rPr lang="ru-RU" altLang="en-US" sz="2400"/>
              <a:t>Он сам по себе почти ничего не делает, но задаёт архитектуру для “обёртывающих” потоков ввода (декораторов), которые добавляют новые возможности поверх обычного InputStream.</a:t>
            </a:r>
            <a:endParaRPr lang="ru-RU" altLang="en-US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808080"/>
            </a:gs>
            <a:gs pos="100000">
              <a:srgbClr val="0000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628650"/>
            <a:ext cx="6906895" cy="1609725"/>
          </a:xfrm>
        </p:spPr>
        <p:txBody>
          <a:bodyPr/>
          <a:p>
            <a:pPr algn="ctr"/>
            <a:r>
              <a:rPr lang="ru-RU" altLang="en-US" sz="3600">
                <a:sym typeface="+mn-ea"/>
              </a:rPr>
              <a:t>FilterInputStream</a:t>
            </a:r>
            <a:br>
              <a:rPr lang="ru-RU" altLang="en-US" sz="3600">
                <a:sym typeface="+mn-ea"/>
              </a:rPr>
            </a:br>
            <a:r>
              <a:rPr lang="ru-RU" altLang="en-US" sz="3600">
                <a:sym typeface="+mn-ea"/>
              </a:rPr>
              <a:t>-</a:t>
            </a:r>
            <a:br>
              <a:rPr lang="ru-RU" altLang="en-US" sz="3600">
                <a:sym typeface="+mn-ea"/>
              </a:rPr>
            </a:br>
            <a:r>
              <a:rPr lang="ru-RU" altLang="en-US" sz="3600">
                <a:sym typeface="+mn-ea"/>
              </a:rPr>
              <a:t>BufferedInputStream и DataInputStream</a:t>
            </a:r>
            <a:br>
              <a:rPr lang="ru-RU" altLang="en-US" sz="3600"/>
            </a:br>
            <a:endParaRPr lang="ru-RU" altLang="en-US" sz="360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210820" y="3086100"/>
            <a:ext cx="4733290" cy="3402330"/>
          </a:xfrm>
        </p:spPr>
        <p:txBody>
          <a:bodyPr/>
          <a:p>
            <a:r>
              <a:rPr lang="ru-RU" altLang="en-US" sz="2000"/>
              <a:t>BufferedInputStream — это обёртка (декоратор) над другими потоками ввода, которая добавляет буферизацию.</a:t>
            </a:r>
            <a:endParaRPr lang="ru-RU" altLang="en-US" sz="2000"/>
          </a:p>
          <a:p>
            <a:pPr marL="0" indent="0" algn="ctr">
              <a:buNone/>
            </a:pPr>
            <a:r>
              <a:rPr lang="ru-RU" altLang="en-US" sz="2000"/>
              <a:t>Он ускоряет чтение данных из источника (например, файла или сети), потому что не обращается к нему каждый раз за одним байтом, а читает целый блок в буфер памяти, и затем выдаёт байты оттуда.</a:t>
            </a:r>
            <a:endParaRPr lang="ru-RU" altLang="en-US" sz="200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6515100" y="418465"/>
            <a:ext cx="500443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en-US"/>
              <a:t>DataInputStream — это декоратор, который позволяет читать примитивные типы данных (int, float, double, long, boolean, UTF-строки) прямо из байтового потока.</a:t>
            </a:r>
            <a:endParaRPr lang="ru-RU" altLang="en-US"/>
          </a:p>
          <a:p>
            <a:pPr algn="l"/>
            <a:r>
              <a:rPr lang="ru-RU" altLang="en-US"/>
              <a:t>Он не ускоряет чтение, а добавляет структуру — умеет преобразовывать байты в Java-типы.</a:t>
            </a:r>
            <a:endParaRPr lang="ru-RU" altLang="en-US"/>
          </a:p>
        </p:txBody>
      </p:sp>
      <p:graphicFrame>
        <p:nvGraphicFramePr>
          <p:cNvPr id="8" name="Таблица 7"/>
          <p:cNvGraphicFramePr/>
          <p:nvPr/>
        </p:nvGraphicFramePr>
        <p:xfrm>
          <a:off x="5172710" y="3010535"/>
          <a:ext cx="6876415" cy="3248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0910"/>
                <a:gridCol w="3405505"/>
              </a:tblGrid>
              <a:tr h="5969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Конструкторы и методы BIS</a:t>
                      </a:r>
                      <a:endParaRPr lang="ru-RU" altLang="en-US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800">
                          <a:sym typeface="+mn-ea"/>
                        </a:rPr>
                        <a:t>Конструкторы и методы DIS</a:t>
                      </a:r>
                      <a:endParaRPr lang="ru-RU" altLang="en-US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261112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400" b="1"/>
                        <a:t>Методы: </a:t>
                      </a:r>
                      <a:endParaRPr lang="ru-RU" altLang="en-US" sz="1400" b="1"/>
                    </a:p>
                    <a:p>
                      <a:pPr>
                        <a:buNone/>
                      </a:pPr>
                      <a:r>
                        <a:rPr lang="ru-RU" altLang="en-US" sz="1400"/>
                        <a:t>int read()</a:t>
                      </a:r>
                      <a:endParaRPr lang="ru-RU" altLang="en-US" sz="1400"/>
                    </a:p>
                    <a:p>
                      <a:pPr>
                        <a:buNone/>
                      </a:pPr>
                      <a:r>
                        <a:rPr lang="ru-RU" altLang="en-US" sz="1400"/>
                        <a:t>int read(byte[] b, int off, int len)</a:t>
                      </a:r>
                      <a:endParaRPr lang="ru-RU" altLang="en-US" sz="1400"/>
                    </a:p>
                    <a:p>
                      <a:pPr>
                        <a:buNone/>
                      </a:pPr>
                      <a:r>
                        <a:rPr lang="ru-RU" altLang="en-US" sz="1400"/>
                        <a:t>void mark(int readlimit)</a:t>
                      </a:r>
                      <a:endParaRPr lang="ru-RU" altLang="en-US" sz="1400"/>
                    </a:p>
                    <a:p>
                      <a:pPr>
                        <a:buNone/>
                      </a:pPr>
                      <a:r>
                        <a:rPr lang="ru-RU" altLang="en-US" sz="1400"/>
                        <a:t>void reset()</a:t>
                      </a:r>
                      <a:endParaRPr lang="ru-RU" altLang="en-US" sz="1400"/>
                    </a:p>
                    <a:p>
                      <a:pPr>
                        <a:buNone/>
                      </a:pPr>
                      <a:r>
                        <a:rPr lang="ru-RU" altLang="en-US" sz="1400"/>
                        <a:t>boolean markSupported()</a:t>
                      </a:r>
                      <a:endParaRPr lang="ru-RU" altLang="en-US" sz="1400"/>
                    </a:p>
                    <a:p>
                      <a:pPr>
                        <a:buNone/>
                      </a:pPr>
                      <a:r>
                        <a:rPr lang="ru-RU" altLang="en-US" sz="1400" b="1"/>
                        <a:t>Конструктор: </a:t>
                      </a:r>
                      <a:endParaRPr lang="ru-RU" altLang="en-US" sz="1400" b="1"/>
                    </a:p>
                    <a:p>
                      <a:pPr>
                        <a:buNone/>
                      </a:pPr>
                      <a:r>
                        <a:rPr lang="ru-RU" altLang="en-US" sz="1400" b="0"/>
                        <a:t>BufferedInputStream(InputStream in)</a:t>
                      </a:r>
                      <a:endParaRPr lang="ru-RU" altLang="en-US" sz="1400" b="0"/>
                    </a:p>
                    <a:p>
                      <a:pPr>
                        <a:buNone/>
                      </a:pPr>
                      <a:r>
                        <a:rPr lang="ru-RU" altLang="en-US" sz="1400" b="0"/>
                        <a:t>BufferedInputStream(InputStream in, int size)</a:t>
                      </a:r>
                      <a:endParaRPr lang="ru-RU" altLang="en-US" sz="1400" b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400" b="1"/>
                        <a:t>Методы:</a:t>
                      </a:r>
                      <a:endParaRPr lang="ru-RU" altLang="en-US" sz="1400" b="1"/>
                    </a:p>
                    <a:p>
                      <a:pPr>
                        <a:buNone/>
                      </a:pPr>
                      <a:r>
                        <a:rPr lang="ru-RU" altLang="en-US" sz="1400"/>
                        <a:t>int readInt()</a:t>
                      </a:r>
                      <a:endParaRPr lang="ru-RU" altLang="en-US" sz="1400"/>
                    </a:p>
                    <a:p>
                      <a:pPr>
                        <a:buNone/>
                      </a:pPr>
                      <a:r>
                        <a:rPr lang="ru-RU" altLang="en-US" sz="1400"/>
                        <a:t>long readLong()</a:t>
                      </a:r>
                      <a:endParaRPr lang="ru-RU" altLang="en-US" sz="1400"/>
                    </a:p>
                    <a:p>
                      <a:pPr>
                        <a:buNone/>
                      </a:pPr>
                      <a:r>
                        <a:rPr lang="ru-RU" altLang="en-US" sz="1400"/>
                        <a:t>float readFloat()</a:t>
                      </a:r>
                      <a:endParaRPr lang="ru-RU" altLang="en-US" sz="1400"/>
                    </a:p>
                    <a:p>
                      <a:pPr>
                        <a:buNone/>
                      </a:pPr>
                      <a:r>
                        <a:rPr lang="ru-RU" altLang="en-US" sz="1400"/>
                        <a:t>double readDouble()</a:t>
                      </a:r>
                      <a:endParaRPr lang="ru-RU" altLang="en-US" sz="1400"/>
                    </a:p>
                    <a:p>
                      <a:pPr>
                        <a:buNone/>
                      </a:pPr>
                      <a:r>
                        <a:rPr lang="ru-RU" altLang="en-US" sz="1400"/>
                        <a:t>short readShort()</a:t>
                      </a:r>
                      <a:endParaRPr lang="ru-RU" altLang="en-US" sz="1400"/>
                    </a:p>
                    <a:p>
                      <a:pPr>
                        <a:buNone/>
                      </a:pPr>
                      <a:r>
                        <a:rPr lang="ru-RU" altLang="en-US" sz="1400"/>
                        <a:t>boolean readBoolean()</a:t>
                      </a:r>
                      <a:endParaRPr lang="ru-RU" altLang="en-US" sz="1400"/>
                    </a:p>
                    <a:p>
                      <a:pPr>
                        <a:buNone/>
                      </a:pPr>
                      <a:r>
                        <a:rPr lang="ru-RU" altLang="en-US" sz="1400"/>
                        <a:t>char readChar()</a:t>
                      </a:r>
                      <a:endParaRPr lang="ru-RU" altLang="en-US" sz="1400"/>
                    </a:p>
                    <a:p>
                      <a:pPr>
                        <a:buNone/>
                      </a:pPr>
                      <a:r>
                        <a:rPr lang="ru-RU" altLang="en-US" sz="1400"/>
                        <a:t>String readUTF()</a:t>
                      </a:r>
                      <a:endParaRPr lang="ru-RU" altLang="en-US" sz="1400"/>
                    </a:p>
                    <a:p>
                      <a:pPr>
                        <a:buNone/>
                      </a:pPr>
                      <a:r>
                        <a:rPr lang="ru-RU" altLang="en-US" sz="1400"/>
                        <a:t>void close()</a:t>
                      </a:r>
                      <a:endParaRPr lang="ru-RU" altLang="en-US" sz="1400"/>
                    </a:p>
                    <a:p>
                      <a:pPr>
                        <a:buNone/>
                      </a:pPr>
                      <a:r>
                        <a:rPr lang="ru-RU" altLang="en-US" sz="1400" b="1"/>
                        <a:t>Конструктор:</a:t>
                      </a:r>
                      <a:endParaRPr lang="ru-RU" altLang="en-US" sz="1400" b="1"/>
                    </a:p>
                    <a:p>
                      <a:pPr>
                        <a:buNone/>
                      </a:pPr>
                      <a:r>
                        <a:rPr lang="ru-RU" altLang="en-US" sz="1400" b="1"/>
                        <a:t>DataInputStream(InputStream in)</a:t>
                      </a:r>
                      <a:endParaRPr lang="ru-RU" altLang="en-US" sz="1400" b="1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808080"/>
            </a:gs>
            <a:gs pos="100000">
              <a:srgbClr val="0000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456883"/>
            <a:ext cx="10972800" cy="1143000"/>
          </a:xfrm>
        </p:spPr>
        <p:txBody>
          <a:bodyPr/>
          <a:p>
            <a:pPr algn="l"/>
            <a:r>
              <a:rPr lang="ru-RU" altLang="en-US"/>
              <a:t>ObjectInputStream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 sz="2400"/>
              <a:t>Теперь мы переходим к одному из самых интересных потоков в java.io — классу ObjectInputStream.Он используется для чтения (восстановления) объектов Java из байтового потока — то есть для десериализации.</a:t>
            </a:r>
            <a:endParaRPr lang="ru-RU" altLang="en-US" sz="2400"/>
          </a:p>
          <a:p>
            <a:r>
              <a:rPr lang="ru-RU" altLang="en-US" sz="2400"/>
              <a:t>ObjectInputStream — это поток, который читает объекты, примитивные типы и массивы, ранее записанные с помощью ObjectOutputStream. Процесс называется десериализация — восстановление объекта из сохранённого байтового представления.</a:t>
            </a:r>
            <a:endParaRPr lang="ru-RU" altLang="en-US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808080"/>
            </a:gs>
            <a:gs pos="100000">
              <a:srgbClr val="0000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456883"/>
            <a:ext cx="10972800" cy="1143000"/>
          </a:xfrm>
        </p:spPr>
        <p:txBody>
          <a:bodyPr/>
          <a:p>
            <a:pPr algn="l"/>
            <a:r>
              <a:rPr lang="ru-RU" altLang="en-US" sz="4000"/>
              <a:t>ObjectInputStream - конструкторы и методы</a:t>
            </a:r>
            <a:endParaRPr lang="ru-RU" altLang="en-US" sz="400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 sz="1800" b="1"/>
              <a:t>Конструктор: </a:t>
            </a:r>
            <a:endParaRPr lang="ru-RU" altLang="en-US" sz="1800" b="1"/>
          </a:p>
          <a:p>
            <a:r>
              <a:rPr lang="ru-RU" altLang="en-US" sz="1800"/>
              <a:t>ObjectInputStream(InputStream in) - Создаёт поток для чтения объектов из указанного потока in.</a:t>
            </a:r>
            <a:endParaRPr lang="ru-RU" altLang="en-US" sz="1800"/>
          </a:p>
          <a:p>
            <a:endParaRPr lang="ru-RU" altLang="en-US" sz="1800"/>
          </a:p>
          <a:p>
            <a:endParaRPr lang="ru-RU" altLang="en-US" sz="1800"/>
          </a:p>
          <a:p>
            <a:r>
              <a:rPr lang="ru-RU" altLang="en-US" sz="1800" b="1"/>
              <a:t>Методы: </a:t>
            </a:r>
            <a:endParaRPr lang="ru-RU" altLang="en-US" sz="1800" b="1"/>
          </a:p>
          <a:p>
            <a:r>
              <a:rPr lang="ru-RU" altLang="en-US" sz="1800"/>
              <a:t>Object readObject() - Читает один объект из потока и возвращает его как Object. Нужно привести к нужному типу.</a:t>
            </a:r>
            <a:endParaRPr lang="ru-RU" altLang="en-US" sz="1800"/>
          </a:p>
          <a:p>
            <a:r>
              <a:rPr lang="ru-RU" altLang="en-US" sz="1800"/>
              <a:t>int read() - Читает один байт (наследуется от InputStream).</a:t>
            </a:r>
            <a:endParaRPr lang="ru-RU" altLang="en-US" sz="1800"/>
          </a:p>
          <a:p>
            <a:r>
              <a:rPr lang="ru-RU" altLang="en-US" sz="1800"/>
              <a:t>void close() - Закрывает поток.</a:t>
            </a:r>
            <a:endParaRPr lang="ru-RU" altLang="en-US" sz="1800"/>
          </a:p>
          <a:p>
            <a:r>
              <a:rPr lang="ru-RU" altLang="en-US" sz="1800"/>
              <a:t>int readInt(), boolean readBoolean(), ... - Читает примитивные типы данных (как DataInputStream).</a:t>
            </a:r>
            <a:endParaRPr lang="ru-RU" altLang="en-US" sz="1800"/>
          </a:p>
          <a:p>
            <a:r>
              <a:rPr lang="ru-RU" altLang="en-US" sz="1800"/>
              <a:t>void defaultReadObject() - Читает “обычные” поля объекта при кастомной сериализации (readObject() в классе).</a:t>
            </a:r>
            <a:endParaRPr lang="ru-RU" altLang="en-US" sz="1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5655</Words>
  <Application>WPS Presentation</Application>
  <PresentationFormat>Широкоэкранный</PresentationFormat>
  <Paragraphs>135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Liberation Sans</vt:lpstr>
      <vt:lpstr>Arial Unicode MS</vt:lpstr>
      <vt:lpstr>Calibri Light</vt:lpstr>
      <vt:lpstr>Calibri</vt:lpstr>
      <vt:lpstr>Microsoft YaHei</vt:lpstr>
      <vt:lpstr>Droid Sans</vt:lpstr>
      <vt:lpstr>Noto Color Emoji</vt:lpstr>
      <vt:lpstr>Cascadia Code NF</vt:lpstr>
      <vt:lpstr>Default Design</vt:lpstr>
      <vt:lpstr>PowerPoint 演示文稿</vt:lpstr>
      <vt:lpstr>Java IO Разбор класса</vt:lpstr>
      <vt:lpstr>PowerPoint 演示文稿</vt:lpstr>
      <vt:lpstr>Разделение</vt:lpstr>
      <vt:lpstr>PowerPoint 演示文稿</vt:lpstr>
      <vt:lpstr>InputStream(входящий поток)</vt:lpstr>
      <vt:lpstr>FileInputStream</vt:lpstr>
      <vt:lpstr>FileInputStream - конструкторы</vt:lpstr>
      <vt:lpstr>FileInputStream - основные методы</vt:lpstr>
      <vt:lpstr>ByteArrayInputStream</vt:lpstr>
      <vt:lpstr>ByteArrayInputStream</vt:lpstr>
      <vt:lpstr>ByteArrayInputStream - методы </vt:lpstr>
      <vt:lpstr>ByteArrayInputStream - методы </vt:lpstr>
      <vt:lpstr>PowerPoint 演示文稿</vt:lpstr>
      <vt:lpstr>ObjectInputStream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IO Разбор класса</dc:title>
  <dc:creator>bezlikii</dc:creator>
  <cp:lastModifiedBy>bezlikii</cp:lastModifiedBy>
  <cp:revision>2</cp:revision>
  <dcterms:created xsi:type="dcterms:W3CDTF">2025-11-05T18:35:25Z</dcterms:created>
  <dcterms:modified xsi:type="dcterms:W3CDTF">2025-11-05T18:35:25Z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1049-11.1.0.11723</vt:lpwstr>
  </property>
</Properties>
</file>